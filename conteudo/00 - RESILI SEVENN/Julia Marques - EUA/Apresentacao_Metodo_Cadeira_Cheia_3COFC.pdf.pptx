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052560" y="0"/>
            <a:ext cx="3154680" cy="6858000"/>
          </a:xfrm>
          <a:prstGeom prst="rect">
            <a:avLst/>
          </a:prstGeom>
          <a:solidFill>
            <a:srgbClr val="532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784080" y="0"/>
            <a:ext cx="2423160" cy="6858000"/>
          </a:xfrm>
          <a:prstGeom prst="rect">
            <a:avLst/>
          </a:prstGeom>
          <a:solidFill>
            <a:srgbClr val="754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652760" y="0"/>
            <a:ext cx="1554480" cy="6858000"/>
          </a:xfrm>
          <a:prstGeom prst="rect">
            <a:avLst/>
          </a:prstGeom>
          <a:solidFill>
            <a:srgbClr val="B28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960120"/>
            <a:ext cx="4114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B2892B"/>
                </a:solidFill>
                <a:latin typeface="Aptos"/>
              </a:rPr>
              <a:t>MÉTODO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417320"/>
            <a:ext cx="71323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Aptos"/>
              </a:rPr>
              <a:t>Cadeira Cheia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48840"/>
            <a:ext cx="1828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>
                <a:solidFill>
                  <a:srgbClr val="7544B5"/>
                </a:solidFill>
                <a:latin typeface="Aptos"/>
              </a:rPr>
              <a:t>3C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063240"/>
            <a:ext cx="7223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ptos"/>
              </a:rPr>
              <a:t>Estratégia comercial para transformar
leads em pacientes, comparecimentos e conversões.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" y="4709160"/>
            <a:ext cx="5029200" cy="347472"/>
          </a:xfrm>
          <a:prstGeom prst="roundRect">
            <a:avLst/>
          </a:prstGeom>
          <a:solidFill>
            <a:srgbClr val="754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2" y="4773168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CONTATO  •  COMPARECIMENTO  •  CONVERSÃO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59436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B2892B"/>
                </a:solidFill>
                <a:latin typeface="Aptos"/>
              </a:rPr>
              <a:t>APRESENTAÇÃO INSTITUCIONAL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72600" y="2148840"/>
            <a:ext cx="1783080" cy="1783080"/>
          </a:xfrm>
          <a:prstGeom prst="roundRect">
            <a:avLst/>
          </a:prstGeom>
          <a:noFill/>
          <a:ln w="279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582912" y="2657219"/>
            <a:ext cx="1371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800" b="0" dirty="0">
                <a:solidFill>
                  <a:srgbClr val="B2892B"/>
                </a:solidFill>
                <a:latin typeface="Aptos"/>
              </a:rPr>
              <a:t>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544B5"/>
                </a:solidFill>
                <a:latin typeface="Aptos"/>
              </a:rPr>
              <a:t>MÉTODO CADEIRA CHEIA 3C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2004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B2892B"/>
                </a:solidFill>
                <a:latin typeface="Aptos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B2892B"/>
                </a:solidFill>
                <a:latin typeface="Aptos"/>
              </a:rPr>
              <a:t>QUEM SOMOS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70432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1919"/>
                </a:solidFill>
                <a:latin typeface="Aptos"/>
              </a:rPr>
              <a:t>Uma operação comercial construída para gerar crescimento previsível.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3902" y="20802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>
                <a:solidFill>
                  <a:srgbClr val="696969"/>
                </a:solidFill>
                <a:latin typeface="Aptos"/>
              </a:rPr>
              <a:t>O </a:t>
            </a:r>
            <a:r>
              <a:rPr sz="1300" b="0" dirty="0" err="1">
                <a:solidFill>
                  <a:srgbClr val="696969"/>
                </a:solidFill>
                <a:latin typeface="Aptos"/>
              </a:rPr>
              <a:t>Método</a:t>
            </a:r>
            <a:r>
              <a:rPr sz="1300" b="0" dirty="0">
                <a:solidFill>
                  <a:srgbClr val="696969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696969"/>
                </a:solidFill>
                <a:latin typeface="Aptos"/>
              </a:rPr>
              <a:t>Cadeira</a:t>
            </a:r>
            <a:r>
              <a:rPr sz="1300" b="0" dirty="0">
                <a:solidFill>
                  <a:srgbClr val="696969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696969"/>
                </a:solidFill>
                <a:latin typeface="Aptos"/>
              </a:rPr>
              <a:t>Cheia</a:t>
            </a:r>
            <a:r>
              <a:rPr sz="1300" b="0" dirty="0">
                <a:solidFill>
                  <a:srgbClr val="696969"/>
                </a:solidFill>
                <a:latin typeface="Aptos"/>
              </a:rPr>
              <a:t> 3C </a:t>
            </a:r>
            <a:r>
              <a:rPr sz="1300" b="0" dirty="0" err="1">
                <a:solidFill>
                  <a:srgbClr val="696969"/>
                </a:solidFill>
                <a:latin typeface="Aptos"/>
              </a:rPr>
              <a:t>une</a:t>
            </a:r>
            <a:r>
              <a:rPr sz="1300" b="0" dirty="0">
                <a:solidFill>
                  <a:srgbClr val="696969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696969"/>
                </a:solidFill>
                <a:latin typeface="Aptos"/>
              </a:rPr>
              <a:t>estratégia</a:t>
            </a:r>
            <a:r>
              <a:rPr sz="1300" b="0" dirty="0">
                <a:solidFill>
                  <a:srgbClr val="696969"/>
                </a:solidFill>
                <a:latin typeface="Aptos"/>
              </a:rPr>
              <a:t>, </a:t>
            </a:r>
            <a:r>
              <a:rPr sz="1300" b="0" dirty="0" err="1">
                <a:solidFill>
                  <a:srgbClr val="696969"/>
                </a:solidFill>
                <a:latin typeface="Aptos"/>
              </a:rPr>
              <a:t>geração</a:t>
            </a:r>
            <a:r>
              <a:rPr sz="1300" b="0" dirty="0">
                <a:solidFill>
                  <a:srgbClr val="696969"/>
                </a:solidFill>
                <a:latin typeface="Aptos"/>
              </a:rPr>
              <a:t> de </a:t>
            </a:r>
            <a:r>
              <a:rPr sz="1300" b="0" dirty="0" err="1">
                <a:solidFill>
                  <a:srgbClr val="696969"/>
                </a:solidFill>
                <a:latin typeface="Aptos"/>
              </a:rPr>
              <a:t>demanda</a:t>
            </a:r>
            <a:r>
              <a:rPr sz="1300" b="0" dirty="0">
                <a:solidFill>
                  <a:srgbClr val="696969"/>
                </a:solidFill>
                <a:latin typeface="Aptos"/>
              </a:rPr>
              <a:t> e </a:t>
            </a:r>
            <a:r>
              <a:rPr sz="1300" b="0" dirty="0" err="1">
                <a:solidFill>
                  <a:srgbClr val="696969"/>
                </a:solidFill>
                <a:latin typeface="Aptos"/>
              </a:rPr>
              <a:t>atendimento</a:t>
            </a:r>
            <a:r>
              <a:rPr sz="1300" b="0" dirty="0">
                <a:solidFill>
                  <a:srgbClr val="696969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696969"/>
                </a:solidFill>
                <a:latin typeface="Aptos"/>
              </a:rPr>
              <a:t>comercial</a:t>
            </a:r>
            <a:r>
              <a:rPr sz="1300" b="0" dirty="0">
                <a:solidFill>
                  <a:srgbClr val="696969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696969"/>
                </a:solidFill>
                <a:latin typeface="Aptos"/>
              </a:rPr>
              <a:t>em</a:t>
            </a:r>
            <a:r>
              <a:rPr sz="1300" b="0" dirty="0">
                <a:solidFill>
                  <a:srgbClr val="696969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696969"/>
                </a:solidFill>
                <a:latin typeface="Aptos"/>
              </a:rPr>
              <a:t>uma</a:t>
            </a:r>
            <a:r>
              <a:rPr sz="1300" b="0" dirty="0">
                <a:solidFill>
                  <a:srgbClr val="696969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696969"/>
                </a:solidFill>
                <a:latin typeface="Aptos"/>
              </a:rPr>
              <a:t>única</a:t>
            </a:r>
            <a:r>
              <a:rPr sz="1300" b="0" dirty="0">
                <a:solidFill>
                  <a:srgbClr val="696969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696969"/>
                </a:solidFill>
                <a:latin typeface="Aptos"/>
              </a:rPr>
              <a:t>estrutura</a:t>
            </a:r>
            <a:r>
              <a:rPr sz="1300" b="0" dirty="0">
                <a:solidFill>
                  <a:srgbClr val="696969"/>
                </a:solidFill>
                <a:latin typeface="Aptos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697480"/>
            <a:ext cx="34290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8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59536" y="2898648"/>
            <a:ext cx="438912" cy="438912"/>
          </a:xfrm>
          <a:prstGeom prst="ellipse">
            <a:avLst/>
          </a:prstGeom>
          <a:solidFill>
            <a:srgbClr val="754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9536" y="2916936"/>
            <a:ext cx="43891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2916936"/>
            <a:ext cx="2450591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1919"/>
                </a:solidFill>
                <a:latin typeface="Aptos"/>
              </a:rPr>
              <a:t>Ana &amp; Júlia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08176" y="3355848"/>
            <a:ext cx="2359151" cy="1435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96969"/>
                </a:solidFill>
                <a:latin typeface="Aptos"/>
              </a:rPr>
              <a:t>Sócias e fundadoras, responsáveis pela estratégia, operação e evolução do método.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2697480"/>
            <a:ext cx="34290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8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572000" y="2898648"/>
            <a:ext cx="438912" cy="438912"/>
          </a:xfrm>
          <a:prstGeom prst="ellipse">
            <a:avLst/>
          </a:prstGeom>
          <a:solidFill>
            <a:srgbClr val="B28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0" y="2916936"/>
            <a:ext cx="43891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2916936"/>
            <a:ext cx="2450591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1919"/>
                </a:solidFill>
                <a:latin typeface="Aptos"/>
              </a:rPr>
              <a:t>Mais de 2 anos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3355848"/>
            <a:ext cx="2359151" cy="1435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96969"/>
                </a:solidFill>
                <a:latin typeface="Aptos"/>
              </a:rPr>
              <a:t>O Método Cadeira Cheia já é aplicado no Brasil há mais de dois anos, com foco em crescimento comercial.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83296" y="2697480"/>
            <a:ext cx="34290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8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284464" y="2898648"/>
            <a:ext cx="438912" cy="438912"/>
          </a:xfrm>
          <a:prstGeom prst="ellipse">
            <a:avLst/>
          </a:prstGeom>
          <a:solidFill>
            <a:srgbClr val="754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84464" y="2916936"/>
            <a:ext cx="43891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33104" y="2916936"/>
            <a:ext cx="2450591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1919"/>
                </a:solidFill>
                <a:latin typeface="Aptos"/>
              </a:rPr>
              <a:t>Expansão internacional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33104" y="3355848"/>
            <a:ext cx="2359151" cy="1435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96969"/>
                </a:solidFill>
                <a:latin typeface="Aptos"/>
              </a:rPr>
              <a:t>A metodologia também já atende clientes de outras áreas nos Estados Unidos e está em implementação no mercado americano.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6519672"/>
            <a:ext cx="10972800" cy="22860"/>
          </a:xfrm>
          <a:prstGeom prst="rect">
            <a:avLst/>
          </a:prstGeom>
          <a:solidFill>
            <a:srgbClr val="E8E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4360" y="6565392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696969"/>
                </a:solidFill>
                <a:latin typeface="Aptos"/>
              </a:rPr>
              <a:t>CONTATO  •  +1 (407) 308-7205  •  Ana ou Júlia Marques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544B5"/>
                </a:solidFill>
                <a:latin typeface="Aptos"/>
              </a:rPr>
              <a:t>MÉTODO CADEIRA CHEIA 3C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2004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B2892B"/>
                </a:solidFill>
                <a:latin typeface="Aptos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B2892B"/>
                </a:solidFill>
                <a:latin typeface="Aptos"/>
              </a:rPr>
              <a:t>O MÉTODO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70432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1919"/>
                </a:solidFill>
                <a:latin typeface="Aptos"/>
              </a:rPr>
              <a:t>Cadeira Cheia 3C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47088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96969"/>
                </a:solidFill>
                <a:latin typeface="Aptos"/>
              </a:rPr>
              <a:t>Três etapas conectadas para construir uma jornada comercial que não depende apenas da geração de leads.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606040"/>
            <a:ext cx="3383280" cy="2834640"/>
          </a:xfrm>
          <a:prstGeom prst="roundRect">
            <a:avLst/>
          </a:prstGeom>
          <a:solidFill>
            <a:srgbClr val="F8F4EE"/>
          </a:solidFill>
          <a:ln>
            <a:solidFill>
              <a:srgbClr val="E8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1832" y="2907792"/>
            <a:ext cx="914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7544B5"/>
                </a:solidFill>
                <a:latin typeface="Aptos"/>
              </a:rPr>
              <a:t>C1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3401568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91919"/>
                </a:solidFill>
                <a:latin typeface="Aptos"/>
              </a:rPr>
              <a:t>CONTATO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3950208"/>
            <a:ext cx="28346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96969"/>
                </a:solidFill>
                <a:latin typeface="Aptos"/>
              </a:rPr>
              <a:t>Gerar e iniciar o relacionamento com potenciais pacientes no momento certo.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41832" y="5138928"/>
            <a:ext cx="2011680" cy="36576"/>
          </a:xfrm>
          <a:prstGeom prst="rect">
            <a:avLst/>
          </a:prstGeom>
          <a:solidFill>
            <a:srgbClr val="754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507992" y="2606040"/>
            <a:ext cx="3383280" cy="2834640"/>
          </a:xfrm>
          <a:prstGeom prst="roundRect">
            <a:avLst/>
          </a:prstGeom>
          <a:solidFill>
            <a:srgbClr val="F8F4EE"/>
          </a:solidFill>
          <a:ln>
            <a:solidFill>
              <a:srgbClr val="E8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64024" y="2907792"/>
            <a:ext cx="914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B2892B"/>
                </a:solidFill>
                <a:latin typeface="Aptos"/>
              </a:rPr>
              <a:t>C2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64024" y="3401568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91919"/>
                </a:solidFill>
                <a:latin typeface="Aptos"/>
              </a:rPr>
              <a:t>COMPARECIMENTO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64024" y="3950208"/>
            <a:ext cx="28346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96969"/>
                </a:solidFill>
                <a:latin typeface="Aptos"/>
              </a:rPr>
              <a:t>Acompanhar, fazer follow-up e reduzir perdas entre o primeiro contato e o agendamento.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64024" y="5138928"/>
            <a:ext cx="2011680" cy="36576"/>
          </a:xfrm>
          <a:prstGeom prst="rect">
            <a:avLst/>
          </a:prstGeom>
          <a:solidFill>
            <a:srgbClr val="B28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330183" y="2606040"/>
            <a:ext cx="3383280" cy="2834640"/>
          </a:xfrm>
          <a:prstGeom prst="roundRect">
            <a:avLst/>
          </a:prstGeom>
          <a:solidFill>
            <a:srgbClr val="F8F4EE"/>
          </a:solidFill>
          <a:ln>
            <a:solidFill>
              <a:srgbClr val="E8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86215" y="2907792"/>
            <a:ext cx="914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532B87"/>
                </a:solidFill>
                <a:latin typeface="Aptos"/>
              </a:rPr>
              <a:t>C3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86215" y="3401568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91919"/>
                </a:solidFill>
                <a:latin typeface="Aptos"/>
              </a:rPr>
              <a:t>CONVERSÃO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86215" y="3950208"/>
            <a:ext cx="28346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96969"/>
                </a:solidFill>
                <a:latin typeface="Aptos"/>
              </a:rPr>
              <a:t>Estruturar o atendimento comercial para transformar oportunidades em procedimentos.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86215" y="5138928"/>
            <a:ext cx="2011680" cy="36576"/>
          </a:xfrm>
          <a:prstGeom prst="rect">
            <a:avLst/>
          </a:prstGeom>
          <a:solidFill>
            <a:srgbClr val="532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94360" y="6519672"/>
            <a:ext cx="10972800" cy="22860"/>
          </a:xfrm>
          <a:prstGeom prst="rect">
            <a:avLst/>
          </a:prstGeom>
          <a:solidFill>
            <a:srgbClr val="E8E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4360" y="6565392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696969"/>
                </a:solidFill>
                <a:latin typeface="Aptos"/>
              </a:rPr>
              <a:t>CONTATO  •  +1 (407) 308-7205  •  Ana ou Júlia Marques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544B5"/>
                </a:solidFill>
                <a:latin typeface="Aptos"/>
              </a:rPr>
              <a:t>MÉTODO CADEIRA CHEIA 3C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2004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B2892B"/>
                </a:solidFill>
                <a:latin typeface="Aptos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B2892B"/>
                </a:solidFill>
                <a:latin typeface="Aptos"/>
              </a:rPr>
              <a:t>COMO ATUAMOS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70432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1919"/>
                </a:solidFill>
                <a:latin typeface="Aptos"/>
              </a:rPr>
              <a:t>Do anúncio ao agendamento — e do agendamento à conversão.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47088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96969"/>
                </a:solidFill>
                <a:latin typeface="Aptos"/>
              </a:rPr>
              <a:t>A operação é desenhada para que marketing e comercial trabalhem como uma única jornada.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542032"/>
            <a:ext cx="1074420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8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14400" y="2743200"/>
            <a:ext cx="438912" cy="438912"/>
          </a:xfrm>
          <a:prstGeom prst="ellipse">
            <a:avLst/>
          </a:prstGeom>
          <a:solidFill>
            <a:srgbClr val="754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761487"/>
            <a:ext cx="43891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761487"/>
            <a:ext cx="976579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1919"/>
                </a:solidFill>
                <a:latin typeface="Aptos"/>
              </a:rPr>
              <a:t>TRÁFEGO &amp; CAPTAÇÃO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60329" y="2832456"/>
            <a:ext cx="9674352" cy="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dirty="0" err="1">
                <a:solidFill>
                  <a:srgbClr val="696969"/>
                </a:solidFill>
                <a:latin typeface="Aptos"/>
              </a:rPr>
              <a:t>Campanhas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 e </a:t>
            </a:r>
            <a:r>
              <a:rPr sz="1050" b="0" dirty="0" err="1">
                <a:solidFill>
                  <a:srgbClr val="696969"/>
                </a:solidFill>
                <a:latin typeface="Aptos"/>
              </a:rPr>
              <a:t>estratégias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 para </a:t>
            </a:r>
            <a:r>
              <a:rPr sz="1050" b="0" dirty="0" err="1">
                <a:solidFill>
                  <a:srgbClr val="696969"/>
                </a:solidFill>
                <a:latin typeface="Aptos"/>
              </a:rPr>
              <a:t>gerar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 </a:t>
            </a:r>
            <a:r>
              <a:rPr sz="1050" b="0" dirty="0" err="1">
                <a:solidFill>
                  <a:srgbClr val="696969"/>
                </a:solidFill>
                <a:latin typeface="Aptos"/>
              </a:rPr>
              <a:t>novos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 leads </a:t>
            </a:r>
            <a:r>
              <a:rPr sz="1050" b="0" dirty="0" err="1">
                <a:solidFill>
                  <a:srgbClr val="696969"/>
                </a:solidFill>
                <a:latin typeface="Aptos"/>
              </a:rPr>
              <a:t>qualificados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3291839"/>
            <a:ext cx="1074420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8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14400" y="3493008"/>
            <a:ext cx="438912" cy="438912"/>
          </a:xfrm>
          <a:prstGeom prst="ellipse">
            <a:avLst/>
          </a:prstGeom>
          <a:solidFill>
            <a:srgbClr val="B28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3511296"/>
            <a:ext cx="43891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511296"/>
            <a:ext cx="976579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1919"/>
                </a:solidFill>
                <a:latin typeface="Aptos"/>
              </a:rPr>
              <a:t>CRC / ATENDIMENTO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0329" y="3595091"/>
            <a:ext cx="9674352" cy="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dirty="0" err="1">
                <a:solidFill>
                  <a:srgbClr val="696969"/>
                </a:solidFill>
                <a:latin typeface="Aptos"/>
              </a:rPr>
              <a:t>Contato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, </a:t>
            </a:r>
            <a:r>
              <a:rPr sz="1050" b="0" dirty="0" err="1">
                <a:solidFill>
                  <a:srgbClr val="696969"/>
                </a:solidFill>
                <a:latin typeface="Aptos"/>
              </a:rPr>
              <a:t>qualificação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, </a:t>
            </a:r>
            <a:r>
              <a:rPr sz="1050" b="0" dirty="0" err="1">
                <a:solidFill>
                  <a:srgbClr val="696969"/>
                </a:solidFill>
                <a:latin typeface="Aptos"/>
              </a:rPr>
              <a:t>condução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 da conversa e </a:t>
            </a:r>
            <a:r>
              <a:rPr sz="1050" b="0" dirty="0" err="1">
                <a:solidFill>
                  <a:srgbClr val="696969"/>
                </a:solidFill>
                <a:latin typeface="Aptos"/>
              </a:rPr>
              <a:t>direcionamento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 para o </a:t>
            </a:r>
            <a:r>
              <a:rPr sz="1050" b="0" dirty="0" err="1">
                <a:solidFill>
                  <a:srgbClr val="696969"/>
                </a:solidFill>
                <a:latin typeface="Aptos"/>
              </a:rPr>
              <a:t>agendamento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4041648"/>
            <a:ext cx="1074420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8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14400" y="4242816"/>
            <a:ext cx="438912" cy="438912"/>
          </a:xfrm>
          <a:prstGeom prst="ellipse">
            <a:avLst/>
          </a:prstGeom>
          <a:solidFill>
            <a:srgbClr val="754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4261104"/>
            <a:ext cx="43891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4261104"/>
            <a:ext cx="976579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1919"/>
                </a:solidFill>
                <a:latin typeface="Aptos"/>
              </a:rPr>
              <a:t>FOLLOW-UP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60329" y="4234354"/>
            <a:ext cx="9674352" cy="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dirty="0" err="1">
                <a:solidFill>
                  <a:srgbClr val="696969"/>
                </a:solidFill>
                <a:latin typeface="Aptos"/>
              </a:rPr>
              <a:t>Acompanhamento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 </a:t>
            </a:r>
            <a:r>
              <a:rPr sz="1050" b="0" dirty="0" err="1">
                <a:solidFill>
                  <a:srgbClr val="696969"/>
                </a:solidFill>
                <a:latin typeface="Aptos"/>
              </a:rPr>
              <a:t>estruturado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 para </a:t>
            </a:r>
            <a:r>
              <a:rPr sz="1050" b="0" dirty="0" err="1">
                <a:solidFill>
                  <a:srgbClr val="696969"/>
                </a:solidFill>
                <a:latin typeface="Aptos"/>
              </a:rPr>
              <a:t>recuperar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 </a:t>
            </a:r>
            <a:r>
              <a:rPr sz="1050" b="0" dirty="0" err="1">
                <a:solidFill>
                  <a:srgbClr val="696969"/>
                </a:solidFill>
                <a:latin typeface="Aptos"/>
              </a:rPr>
              <a:t>oportunidades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 e </a:t>
            </a:r>
            <a:r>
              <a:rPr sz="1050" b="0" dirty="0" err="1">
                <a:solidFill>
                  <a:srgbClr val="696969"/>
                </a:solidFill>
                <a:latin typeface="Aptos"/>
              </a:rPr>
              <a:t>aumentar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 o </a:t>
            </a:r>
            <a:r>
              <a:rPr sz="1050" b="0" dirty="0" err="1">
                <a:solidFill>
                  <a:srgbClr val="696969"/>
                </a:solidFill>
                <a:latin typeface="Aptos"/>
              </a:rPr>
              <a:t>comparecimento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" y="4791456"/>
            <a:ext cx="1074420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8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14400" y="4992624"/>
            <a:ext cx="438912" cy="438912"/>
          </a:xfrm>
          <a:prstGeom prst="ellipse">
            <a:avLst/>
          </a:prstGeom>
          <a:solidFill>
            <a:srgbClr val="B28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" y="5010912"/>
            <a:ext cx="43891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5010912"/>
            <a:ext cx="976579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1919"/>
                </a:solidFill>
                <a:latin typeface="Aptos"/>
              </a:rPr>
              <a:t>REATIVAÇÃO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14337" y="5093072"/>
            <a:ext cx="9674352" cy="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dirty="0" err="1">
                <a:solidFill>
                  <a:srgbClr val="696969"/>
                </a:solidFill>
                <a:latin typeface="Aptos"/>
              </a:rPr>
              <a:t>Trabalho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 </a:t>
            </a:r>
            <a:r>
              <a:rPr sz="1050" b="0" dirty="0" err="1">
                <a:solidFill>
                  <a:srgbClr val="696969"/>
                </a:solidFill>
                <a:latin typeface="Aptos"/>
              </a:rPr>
              <a:t>sobre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 a base </a:t>
            </a:r>
            <a:r>
              <a:rPr sz="1050" b="0" dirty="0" err="1">
                <a:solidFill>
                  <a:srgbClr val="696969"/>
                </a:solidFill>
                <a:latin typeface="Aptos"/>
              </a:rPr>
              <a:t>existente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 para </a:t>
            </a:r>
            <a:r>
              <a:rPr sz="1050" b="0" dirty="0" err="1">
                <a:solidFill>
                  <a:srgbClr val="696969"/>
                </a:solidFill>
                <a:latin typeface="Aptos"/>
              </a:rPr>
              <a:t>transformar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 </a:t>
            </a:r>
            <a:r>
              <a:rPr sz="1050" b="0" dirty="0" err="1">
                <a:solidFill>
                  <a:srgbClr val="696969"/>
                </a:solidFill>
                <a:latin typeface="Aptos"/>
              </a:rPr>
              <a:t>contatos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 </a:t>
            </a:r>
            <a:r>
              <a:rPr sz="1050" b="0" dirty="0" err="1">
                <a:solidFill>
                  <a:srgbClr val="696969"/>
                </a:solidFill>
                <a:latin typeface="Aptos"/>
              </a:rPr>
              <a:t>antigos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 </a:t>
            </a:r>
            <a:r>
              <a:rPr sz="1050" b="0" dirty="0" err="1">
                <a:solidFill>
                  <a:srgbClr val="696969"/>
                </a:solidFill>
                <a:latin typeface="Aptos"/>
              </a:rPr>
              <a:t>em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 </a:t>
            </a:r>
            <a:r>
              <a:rPr sz="1050" b="0" dirty="0" err="1">
                <a:solidFill>
                  <a:srgbClr val="696969"/>
                </a:solidFill>
                <a:latin typeface="Aptos"/>
              </a:rPr>
              <a:t>novas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 </a:t>
            </a:r>
            <a:r>
              <a:rPr sz="1050" b="0" dirty="0" err="1">
                <a:solidFill>
                  <a:srgbClr val="696969"/>
                </a:solidFill>
                <a:latin typeface="Aptos"/>
              </a:rPr>
              <a:t>oportunidades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3232" y="5541264"/>
            <a:ext cx="1074420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8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914400" y="5742431"/>
            <a:ext cx="438912" cy="438912"/>
          </a:xfrm>
          <a:prstGeom prst="ellipse">
            <a:avLst/>
          </a:prstGeom>
          <a:solidFill>
            <a:srgbClr val="754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4400" y="5760720"/>
            <a:ext cx="43891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3040" y="5760720"/>
            <a:ext cx="976579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1919"/>
                </a:solidFill>
                <a:latin typeface="Aptos"/>
              </a:rPr>
              <a:t>CONVERSÃO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14337" y="5760720"/>
            <a:ext cx="9674352" cy="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dirty="0" err="1">
                <a:solidFill>
                  <a:srgbClr val="696969"/>
                </a:solidFill>
                <a:latin typeface="Aptos"/>
              </a:rPr>
              <a:t>Processos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, scripts, </a:t>
            </a:r>
            <a:r>
              <a:rPr sz="1050" b="0" dirty="0" err="1">
                <a:solidFill>
                  <a:srgbClr val="696969"/>
                </a:solidFill>
                <a:latin typeface="Aptos"/>
              </a:rPr>
              <a:t>organização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 e </a:t>
            </a:r>
            <a:r>
              <a:rPr sz="1050" b="0" dirty="0" err="1">
                <a:solidFill>
                  <a:srgbClr val="696969"/>
                </a:solidFill>
                <a:latin typeface="Aptos"/>
              </a:rPr>
              <a:t>acompanhamento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 do </a:t>
            </a:r>
            <a:r>
              <a:rPr sz="1050" b="0" dirty="0" err="1">
                <a:solidFill>
                  <a:srgbClr val="696969"/>
                </a:solidFill>
                <a:latin typeface="Aptos"/>
              </a:rPr>
              <a:t>comercial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 para </a:t>
            </a:r>
            <a:r>
              <a:rPr sz="1050" b="0" dirty="0" err="1">
                <a:solidFill>
                  <a:srgbClr val="696969"/>
                </a:solidFill>
                <a:latin typeface="Aptos"/>
              </a:rPr>
              <a:t>melhorar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 </a:t>
            </a:r>
            <a:r>
              <a:rPr sz="1050" b="0" dirty="0" err="1">
                <a:solidFill>
                  <a:srgbClr val="696969"/>
                </a:solidFill>
                <a:latin typeface="Aptos"/>
              </a:rPr>
              <a:t>resultados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" y="6519672"/>
            <a:ext cx="10972800" cy="22860"/>
          </a:xfrm>
          <a:prstGeom prst="rect">
            <a:avLst/>
          </a:prstGeom>
          <a:solidFill>
            <a:srgbClr val="E8E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94360" y="6565392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696969"/>
                </a:solidFill>
                <a:latin typeface="Aptos"/>
              </a:rPr>
              <a:t>CONTATO  •  +1 (407) 308-7205  •  Ana ou Júlia Marques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544B5"/>
                </a:solidFill>
                <a:latin typeface="Aptos"/>
              </a:rPr>
              <a:t>MÉTODO CADEIRA CHEIA 3C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2004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B2892B"/>
                </a:solidFill>
                <a:latin typeface="Aptos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B2892B"/>
                </a:solidFill>
                <a:latin typeface="Aptos"/>
              </a:rPr>
              <a:t>ESTRUTURA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70432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1919"/>
                </a:solidFill>
                <a:latin typeface="Aptos"/>
              </a:rPr>
              <a:t>Uma operação integrada para sustentar o crescimento.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47088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96969"/>
                </a:solidFill>
                <a:latin typeface="Aptos"/>
              </a:rPr>
              <a:t>Os entregáveis são organizados de acordo com a fase de maturidade comercial e as necessidades da operação.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542032"/>
            <a:ext cx="5230368" cy="896112"/>
          </a:xfrm>
          <a:prstGeom prst="roundRect">
            <a:avLst/>
          </a:prstGeom>
          <a:solidFill>
            <a:srgbClr val="FFFFFF"/>
          </a:solidFill>
          <a:ln>
            <a:solidFill>
              <a:srgbClr val="E8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1832" y="2761487"/>
            <a:ext cx="4745736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1919"/>
                </a:solidFill>
                <a:latin typeface="Aptos"/>
              </a:rPr>
              <a:t>CRM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958084"/>
            <a:ext cx="4654296" cy="91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dirty="0" err="1">
                <a:solidFill>
                  <a:srgbClr val="696969"/>
                </a:solidFill>
                <a:latin typeface="Aptos"/>
              </a:rPr>
              <a:t>Implementação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, </a:t>
            </a:r>
            <a:r>
              <a:rPr sz="1050" b="0" dirty="0" err="1">
                <a:solidFill>
                  <a:srgbClr val="696969"/>
                </a:solidFill>
                <a:latin typeface="Aptos"/>
              </a:rPr>
              <a:t>organização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 de leads, </a:t>
            </a:r>
            <a:r>
              <a:rPr sz="1050" b="0" dirty="0" err="1">
                <a:solidFill>
                  <a:srgbClr val="696969"/>
                </a:solidFill>
                <a:latin typeface="Aptos"/>
              </a:rPr>
              <a:t>acompanhamento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 e </a:t>
            </a:r>
            <a:r>
              <a:rPr sz="1050" b="0" dirty="0" err="1">
                <a:solidFill>
                  <a:srgbClr val="696969"/>
                </a:solidFill>
                <a:latin typeface="Aptos"/>
              </a:rPr>
              <a:t>visão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 do </a:t>
            </a:r>
            <a:r>
              <a:rPr sz="1050" b="0" dirty="0" err="1">
                <a:solidFill>
                  <a:srgbClr val="696969"/>
                </a:solidFill>
                <a:latin typeface="Aptos"/>
              </a:rPr>
              <a:t>processo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 </a:t>
            </a:r>
            <a:r>
              <a:rPr sz="1050" b="0" dirty="0" err="1">
                <a:solidFill>
                  <a:srgbClr val="696969"/>
                </a:solidFill>
                <a:latin typeface="Aptos"/>
              </a:rPr>
              <a:t>comercial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542032"/>
            <a:ext cx="5230368" cy="896112"/>
          </a:xfrm>
          <a:prstGeom prst="roundRect">
            <a:avLst/>
          </a:prstGeom>
          <a:solidFill>
            <a:srgbClr val="FFFFFF"/>
          </a:solidFill>
          <a:ln>
            <a:solidFill>
              <a:srgbClr val="E8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73952" y="2761487"/>
            <a:ext cx="4745736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1919"/>
                </a:solidFill>
                <a:latin typeface="Aptos"/>
              </a:rPr>
              <a:t>GESTÃO DA 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5664" y="2992817"/>
            <a:ext cx="4654296" cy="91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dirty="0">
                <a:solidFill>
                  <a:srgbClr val="696969"/>
                </a:solidFill>
                <a:latin typeface="Aptos"/>
              </a:rPr>
              <a:t>Follow-up, </a:t>
            </a:r>
            <a:r>
              <a:rPr sz="1050" b="0" dirty="0" err="1">
                <a:solidFill>
                  <a:srgbClr val="696969"/>
                </a:solidFill>
                <a:latin typeface="Aptos"/>
              </a:rPr>
              <a:t>reativação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 de </a:t>
            </a:r>
            <a:r>
              <a:rPr sz="1050" b="0" dirty="0" err="1">
                <a:solidFill>
                  <a:srgbClr val="696969"/>
                </a:solidFill>
                <a:latin typeface="Aptos"/>
              </a:rPr>
              <a:t>contatos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 e </a:t>
            </a:r>
            <a:r>
              <a:rPr sz="1050" b="0" dirty="0" err="1">
                <a:solidFill>
                  <a:srgbClr val="696969"/>
                </a:solidFill>
                <a:latin typeface="Aptos"/>
              </a:rPr>
              <a:t>criação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 de </a:t>
            </a:r>
            <a:r>
              <a:rPr sz="1050" b="0" dirty="0" err="1">
                <a:solidFill>
                  <a:srgbClr val="696969"/>
                </a:solidFill>
                <a:latin typeface="Aptos"/>
              </a:rPr>
              <a:t>rotinas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 para </a:t>
            </a:r>
            <a:r>
              <a:rPr sz="1050" b="0" dirty="0" err="1">
                <a:solidFill>
                  <a:srgbClr val="696969"/>
                </a:solidFill>
                <a:latin typeface="Aptos"/>
              </a:rPr>
              <a:t>não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 </a:t>
            </a:r>
            <a:r>
              <a:rPr sz="1050" b="0" dirty="0" err="1">
                <a:solidFill>
                  <a:srgbClr val="696969"/>
                </a:solidFill>
                <a:latin typeface="Aptos"/>
              </a:rPr>
              <a:t>perder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 </a:t>
            </a:r>
            <a:r>
              <a:rPr sz="1050" b="0" dirty="0" err="1">
                <a:solidFill>
                  <a:srgbClr val="696969"/>
                </a:solidFill>
                <a:latin typeface="Aptos"/>
              </a:rPr>
              <a:t>oportunidades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621024"/>
            <a:ext cx="5230368" cy="896112"/>
          </a:xfrm>
          <a:prstGeom prst="roundRect">
            <a:avLst/>
          </a:prstGeom>
          <a:solidFill>
            <a:srgbClr val="FFFFFF"/>
          </a:solidFill>
          <a:ln>
            <a:solidFill>
              <a:srgbClr val="E8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41832" y="3840480"/>
            <a:ext cx="4745736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1919"/>
                </a:solidFill>
                <a:latin typeface="Aptos"/>
              </a:rPr>
              <a:t>CAPTAÇÃO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" y="4062224"/>
            <a:ext cx="4654296" cy="91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dirty="0" err="1">
                <a:solidFill>
                  <a:srgbClr val="696969"/>
                </a:solidFill>
                <a:latin typeface="Aptos"/>
              </a:rPr>
              <a:t>Tráfego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 </a:t>
            </a:r>
            <a:r>
              <a:rPr sz="1050" b="0" dirty="0" err="1">
                <a:solidFill>
                  <a:srgbClr val="696969"/>
                </a:solidFill>
                <a:latin typeface="Aptos"/>
              </a:rPr>
              <a:t>pago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 e </a:t>
            </a:r>
            <a:r>
              <a:rPr sz="1050" b="0" dirty="0" err="1">
                <a:solidFill>
                  <a:srgbClr val="696969"/>
                </a:solidFill>
                <a:latin typeface="Aptos"/>
              </a:rPr>
              <a:t>campanhas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 para </a:t>
            </a:r>
            <a:r>
              <a:rPr sz="1050" b="0" dirty="0" err="1">
                <a:solidFill>
                  <a:srgbClr val="696969"/>
                </a:solidFill>
                <a:latin typeface="Aptos"/>
              </a:rPr>
              <a:t>geração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 </a:t>
            </a:r>
            <a:r>
              <a:rPr sz="1050" b="0" dirty="0" err="1">
                <a:solidFill>
                  <a:srgbClr val="696969"/>
                </a:solidFill>
                <a:latin typeface="Aptos"/>
              </a:rPr>
              <a:t>contínua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 de </a:t>
            </a:r>
            <a:r>
              <a:rPr sz="1050" b="0" dirty="0" err="1">
                <a:solidFill>
                  <a:srgbClr val="696969"/>
                </a:solidFill>
                <a:latin typeface="Aptos"/>
              </a:rPr>
              <a:t>novos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 </a:t>
            </a:r>
            <a:r>
              <a:rPr sz="1050" b="0" dirty="0" err="1">
                <a:solidFill>
                  <a:srgbClr val="696969"/>
                </a:solidFill>
                <a:latin typeface="Aptos"/>
              </a:rPr>
              <a:t>potenciais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 </a:t>
            </a:r>
            <a:r>
              <a:rPr sz="1050" b="0" dirty="0" err="1">
                <a:solidFill>
                  <a:srgbClr val="696969"/>
                </a:solidFill>
                <a:latin typeface="Aptos"/>
              </a:rPr>
              <a:t>pacientes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621024"/>
            <a:ext cx="5230368" cy="896112"/>
          </a:xfrm>
          <a:prstGeom prst="roundRect">
            <a:avLst/>
          </a:prstGeom>
          <a:solidFill>
            <a:srgbClr val="FFFFFF"/>
          </a:solidFill>
          <a:ln>
            <a:solidFill>
              <a:srgbClr val="E8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73952" y="3840480"/>
            <a:ext cx="4745736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1919"/>
                </a:solidFill>
                <a:latin typeface="Aptos"/>
              </a:rPr>
              <a:t>GOOGLE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4032503"/>
            <a:ext cx="4654296" cy="91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dirty="0" err="1">
                <a:solidFill>
                  <a:srgbClr val="696969"/>
                </a:solidFill>
                <a:latin typeface="Aptos"/>
              </a:rPr>
              <a:t>Gestão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 </a:t>
            </a:r>
            <a:r>
              <a:rPr sz="1050" b="0" dirty="0" err="1">
                <a:solidFill>
                  <a:srgbClr val="696969"/>
                </a:solidFill>
                <a:latin typeface="Aptos"/>
              </a:rPr>
              <a:t>estratégica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 do Google My Business para </a:t>
            </a:r>
            <a:r>
              <a:rPr sz="1050" b="0" dirty="0" err="1">
                <a:solidFill>
                  <a:srgbClr val="696969"/>
                </a:solidFill>
                <a:latin typeface="Aptos"/>
              </a:rPr>
              <a:t>fortalecer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 </a:t>
            </a:r>
            <a:r>
              <a:rPr sz="1050" b="0" dirty="0" err="1">
                <a:solidFill>
                  <a:srgbClr val="696969"/>
                </a:solidFill>
                <a:latin typeface="Aptos"/>
              </a:rPr>
              <a:t>presença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 e </a:t>
            </a:r>
            <a:r>
              <a:rPr sz="1050" b="0" dirty="0" err="1">
                <a:solidFill>
                  <a:srgbClr val="696969"/>
                </a:solidFill>
                <a:latin typeface="Aptos"/>
              </a:rPr>
              <a:t>descoberta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 local.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700016"/>
            <a:ext cx="5230368" cy="896112"/>
          </a:xfrm>
          <a:prstGeom prst="roundRect">
            <a:avLst/>
          </a:prstGeom>
          <a:solidFill>
            <a:srgbClr val="FFFFFF"/>
          </a:solidFill>
          <a:ln>
            <a:solidFill>
              <a:srgbClr val="E8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41832" y="4919472"/>
            <a:ext cx="4745736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1919"/>
                </a:solidFill>
                <a:latin typeface="Aptos"/>
              </a:rPr>
              <a:t>WEBSITE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4756" y="5151893"/>
            <a:ext cx="4654296" cy="91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dirty="0" err="1">
                <a:solidFill>
                  <a:srgbClr val="696969"/>
                </a:solidFill>
                <a:latin typeface="Aptos"/>
              </a:rPr>
              <a:t>Estrutura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 e </a:t>
            </a:r>
            <a:r>
              <a:rPr sz="1050" b="0" dirty="0" err="1">
                <a:solidFill>
                  <a:srgbClr val="696969"/>
                </a:solidFill>
                <a:latin typeface="Aptos"/>
              </a:rPr>
              <a:t>manutenção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 do site </a:t>
            </a:r>
            <a:r>
              <a:rPr sz="1050" b="0" dirty="0" err="1">
                <a:solidFill>
                  <a:srgbClr val="696969"/>
                </a:solidFill>
                <a:latin typeface="Aptos"/>
              </a:rPr>
              <a:t>como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 ferramenta de </a:t>
            </a:r>
            <a:r>
              <a:rPr sz="1050" b="0" dirty="0" err="1">
                <a:solidFill>
                  <a:srgbClr val="696969"/>
                </a:solidFill>
                <a:latin typeface="Aptos"/>
              </a:rPr>
              <a:t>autoridade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, </a:t>
            </a:r>
            <a:r>
              <a:rPr sz="1050" b="0" dirty="0" err="1">
                <a:solidFill>
                  <a:srgbClr val="696969"/>
                </a:solidFill>
                <a:latin typeface="Aptos"/>
              </a:rPr>
              <a:t>confiança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 e </a:t>
            </a:r>
            <a:r>
              <a:rPr sz="1050" b="0" dirty="0" err="1">
                <a:solidFill>
                  <a:srgbClr val="696969"/>
                </a:solidFill>
                <a:latin typeface="Aptos"/>
              </a:rPr>
              <a:t>conversão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4700016"/>
            <a:ext cx="5230368" cy="896112"/>
          </a:xfrm>
          <a:prstGeom prst="roundRect">
            <a:avLst/>
          </a:prstGeom>
          <a:solidFill>
            <a:srgbClr val="FFFFFF"/>
          </a:solidFill>
          <a:ln>
            <a:solidFill>
              <a:srgbClr val="E8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73952" y="4919472"/>
            <a:ext cx="4745736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1919"/>
                </a:solidFill>
                <a:latin typeface="Aptos"/>
              </a:rPr>
              <a:t>SOCIAL MEDIA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3952" y="5151893"/>
            <a:ext cx="4654296" cy="91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dirty="0" err="1">
                <a:solidFill>
                  <a:srgbClr val="696969"/>
                </a:solidFill>
                <a:latin typeface="Aptos"/>
              </a:rPr>
              <a:t>Gestão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 </a:t>
            </a:r>
            <a:r>
              <a:rPr sz="1050" b="0" dirty="0" err="1">
                <a:solidFill>
                  <a:srgbClr val="696969"/>
                </a:solidFill>
                <a:latin typeface="Aptos"/>
              </a:rPr>
              <a:t>estratégica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 das redes para </a:t>
            </a:r>
            <a:r>
              <a:rPr sz="1050" b="0" dirty="0" err="1">
                <a:solidFill>
                  <a:srgbClr val="696969"/>
                </a:solidFill>
                <a:latin typeface="Aptos"/>
              </a:rPr>
              <a:t>fortalecer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 </a:t>
            </a:r>
            <a:r>
              <a:rPr sz="1050" b="0" dirty="0" err="1">
                <a:solidFill>
                  <a:srgbClr val="696969"/>
                </a:solidFill>
                <a:latin typeface="Aptos"/>
              </a:rPr>
              <a:t>marca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, </a:t>
            </a:r>
            <a:r>
              <a:rPr sz="1050" b="0" dirty="0" err="1">
                <a:solidFill>
                  <a:srgbClr val="696969"/>
                </a:solidFill>
                <a:latin typeface="Aptos"/>
              </a:rPr>
              <a:t>autoridade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 e </a:t>
            </a:r>
            <a:r>
              <a:rPr sz="1050" b="0" dirty="0" err="1">
                <a:solidFill>
                  <a:srgbClr val="696969"/>
                </a:solidFill>
                <a:latin typeface="Aptos"/>
              </a:rPr>
              <a:t>relacionamento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6519672"/>
            <a:ext cx="10972800" cy="22860"/>
          </a:xfrm>
          <a:prstGeom prst="rect">
            <a:avLst/>
          </a:prstGeom>
          <a:solidFill>
            <a:srgbClr val="E8E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94360" y="6565392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696969"/>
                </a:solidFill>
                <a:latin typeface="Aptos"/>
              </a:rPr>
              <a:t>CONTATO  •  +1 (407) 308-7205  •  Ana ou Júlia Marques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544B5"/>
                </a:solidFill>
                <a:latin typeface="Aptos"/>
              </a:rPr>
              <a:t>MÉTODO CADEIRA CHEIA 3C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2004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B2892B"/>
                </a:solidFill>
                <a:latin typeface="Aptos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B2892B"/>
                </a:solidFill>
                <a:latin typeface="Aptos"/>
              </a:rPr>
              <a:t>OPERAÇÃO COMERCIAL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70432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1919"/>
                </a:solidFill>
                <a:latin typeface="Aptos"/>
              </a:rPr>
              <a:t>O diferencial está na continuidade.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47088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96969"/>
                </a:solidFill>
                <a:latin typeface="Aptos"/>
              </a:rPr>
              <a:t>Mais do que gerar contatos, a metodologia organiza o que acontece depois que o lead chega.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880360"/>
            <a:ext cx="1572768" cy="841248"/>
          </a:xfrm>
          <a:prstGeom prst="roundRect">
            <a:avLst/>
          </a:prstGeom>
          <a:solidFill>
            <a:srgbClr val="754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3145536"/>
            <a:ext cx="15727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LEAD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310896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696969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96312" y="2880360"/>
            <a:ext cx="1572768" cy="841248"/>
          </a:xfrm>
          <a:prstGeom prst="roundRect">
            <a:avLst/>
          </a:prstGeom>
          <a:solidFill>
            <a:srgbClr val="B28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496312" y="3145536"/>
            <a:ext cx="15727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ATENDIMENTO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96512" y="310896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696969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8264" y="2880360"/>
            <a:ext cx="1572768" cy="841248"/>
          </a:xfrm>
          <a:prstGeom prst="roundRect">
            <a:avLst/>
          </a:prstGeom>
          <a:solidFill>
            <a:srgbClr val="754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98264" y="3145536"/>
            <a:ext cx="15727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AGENDAMENTO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98464" y="310896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696969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0216" y="2880360"/>
            <a:ext cx="1572768" cy="841248"/>
          </a:xfrm>
          <a:prstGeom prst="roundRect">
            <a:avLst/>
          </a:prstGeom>
          <a:solidFill>
            <a:srgbClr val="B28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00216" y="3145536"/>
            <a:ext cx="15727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FOLLOW-UP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0416" y="310896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696969"/>
                </a:solidFill>
                <a:latin typeface="Apto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02168" y="2880360"/>
            <a:ext cx="1572768" cy="841248"/>
          </a:xfrm>
          <a:prstGeom prst="roundRect">
            <a:avLst/>
          </a:prstGeom>
          <a:solidFill>
            <a:srgbClr val="754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02168" y="3145536"/>
            <a:ext cx="15727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COMPARECIMENTO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02368" y="310896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696969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104120" y="2880360"/>
            <a:ext cx="1572768" cy="841248"/>
          </a:xfrm>
          <a:prstGeom prst="roundRect">
            <a:avLst/>
          </a:prstGeom>
          <a:solidFill>
            <a:srgbClr val="B28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104120" y="3145536"/>
            <a:ext cx="15727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CONVERSÃO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4160520"/>
            <a:ext cx="8138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91919"/>
                </a:solidFill>
                <a:latin typeface="Aptos"/>
              </a:rPr>
              <a:t>Cada etapa tem uma função clara e mensurável dentro da jornada comercial.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4709160"/>
            <a:ext cx="8503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96969"/>
                </a:solidFill>
                <a:latin typeface="Aptos"/>
              </a:rPr>
              <a:t>O objetivo é reduzir perdas entre as etapas e criar uma operação que acompanhe o paciente até a decisão.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6519672"/>
            <a:ext cx="10972800" cy="22860"/>
          </a:xfrm>
          <a:prstGeom prst="rect">
            <a:avLst/>
          </a:prstGeom>
          <a:solidFill>
            <a:srgbClr val="E8E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94360" y="6565392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696969"/>
                </a:solidFill>
                <a:latin typeface="Aptos"/>
              </a:rPr>
              <a:t>CONTATO  •  +1 (407) 308-7205  •  Ana ou Júlia Marques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B2892B"/>
                </a:solidFill>
                <a:latin typeface="Aptos"/>
              </a:rPr>
              <a:t>MERCADO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9784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ptos"/>
              </a:rPr>
              <a:t>Do Brasil para os Estados Unidos.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847088"/>
            <a:ext cx="9418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DCDCDC"/>
                </a:solidFill>
                <a:latin typeface="Aptos"/>
              </a:rPr>
              <a:t>Uma metodologia validada em operação no Brasil e em processo de expansão internacional.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2788920"/>
            <a:ext cx="5074920" cy="2240280"/>
          </a:xfrm>
          <a:prstGeom prst="roundRect">
            <a:avLst/>
          </a:prstGeom>
          <a:solidFill>
            <a:srgbClr val="262626"/>
          </a:solidFill>
          <a:ln>
            <a:solidFill>
              <a:srgbClr val="754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9848" y="312724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7544B5"/>
                </a:solidFill>
                <a:latin typeface="Aptos"/>
              </a:rPr>
              <a:t>BRASIL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3657600"/>
            <a:ext cx="43434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Mais de 2 anos de desenvolvimento e aplicação do Método Cadeira Cheia.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27648" y="2788920"/>
            <a:ext cx="5074920" cy="2240280"/>
          </a:xfrm>
          <a:prstGeom prst="roundRect">
            <a:avLst/>
          </a:prstGeom>
          <a:solidFill>
            <a:srgbClr val="262626"/>
          </a:solidFill>
          <a:ln>
            <a:solidFill>
              <a:srgbClr val="B28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47688" y="312724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B2892B"/>
                </a:solidFill>
                <a:latin typeface="Aptos"/>
              </a:rPr>
              <a:t>ESTADOS UNIDOS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47688" y="3657600"/>
            <a:ext cx="43434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Implementação da metodologia no mercado americano, além de clientes de outras áreas já atendidos.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5806440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B2892B"/>
                </a:solidFill>
                <a:latin typeface="Aptos"/>
              </a:rPr>
              <a:t>ESTRATÉGIA  •  OPERAÇÃO  •  ESCALA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544B5"/>
                </a:solidFill>
                <a:latin typeface="Aptos"/>
              </a:rPr>
              <a:t>MÉTODO CADEIRA CHEIA 3C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2004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B2892B"/>
                </a:solidFill>
                <a:latin typeface="Aptos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B2892B"/>
                </a:solidFill>
                <a:latin typeface="Aptos"/>
              </a:rPr>
              <a:t>NOSSO POSICIONAMENTO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70432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1919"/>
                </a:solidFill>
                <a:latin typeface="Aptos"/>
              </a:rPr>
              <a:t>Não somos apenas uma agência de marketing.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47088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96969"/>
                </a:solidFill>
                <a:latin typeface="Aptos"/>
              </a:rPr>
              <a:t>Somos uma estrutura comercial pensada para conectar geração de demanda, atendimento e conversão.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60320"/>
            <a:ext cx="51663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8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7552" y="2779776"/>
            <a:ext cx="468172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1919"/>
                </a:solidFill>
                <a:latin typeface="Aptos"/>
              </a:rPr>
              <a:t>GERAR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3218687"/>
            <a:ext cx="4590288" cy="2743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96969"/>
                </a:solidFill>
                <a:latin typeface="Aptos"/>
              </a:rPr>
              <a:t>Atrair novos potenciais pacientes.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560320"/>
            <a:ext cx="51663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8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19672" y="2779776"/>
            <a:ext cx="468172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1919"/>
                </a:solidFill>
                <a:latin typeface="Aptos"/>
              </a:rPr>
              <a:t>ATENDER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9672" y="3218687"/>
            <a:ext cx="4590288" cy="2743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96969"/>
                </a:solidFill>
                <a:latin typeface="Aptos"/>
              </a:rPr>
              <a:t>Responder, qualificar e conduzir.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886200"/>
            <a:ext cx="51663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8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87552" y="4105656"/>
            <a:ext cx="468172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1919"/>
                </a:solidFill>
                <a:latin typeface="Aptos"/>
              </a:rPr>
              <a:t>ACOMPANHAR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4544568"/>
            <a:ext cx="4590288" cy="2743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96969"/>
                </a:solidFill>
                <a:latin typeface="Aptos"/>
              </a:rPr>
              <a:t>Fazer follow-up e recuperar oportunidades.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886200"/>
            <a:ext cx="51663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8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19672" y="4105656"/>
            <a:ext cx="468172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1919"/>
                </a:solidFill>
                <a:latin typeface="Aptos"/>
              </a:rPr>
              <a:t>CONVERTER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9672" y="4544568"/>
            <a:ext cx="4590288" cy="2743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96969"/>
                </a:solidFill>
                <a:latin typeface="Aptos"/>
              </a:rPr>
              <a:t>Transformar relacionamento em resultado.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55321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7544B5"/>
                </a:solidFill>
                <a:latin typeface="Aptos"/>
              </a:rPr>
              <a:t>Método Cadeira Cheia 3C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5925312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2892B"/>
                </a:solidFill>
                <a:latin typeface="Aptos"/>
              </a:rPr>
              <a:t>Contato. Comparecimento. Conversão.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6519672"/>
            <a:ext cx="10972800" cy="22860"/>
          </a:xfrm>
          <a:prstGeom prst="rect">
            <a:avLst/>
          </a:prstGeom>
          <a:solidFill>
            <a:srgbClr val="E8E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6565392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696969"/>
                </a:solidFill>
                <a:latin typeface="Aptos"/>
              </a:rPr>
              <a:t>CONTATO  •  +1 (407) 308-7205  •  Ana ou Júlia Marques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32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91440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B2892B"/>
                </a:solidFill>
                <a:latin typeface="Aptos"/>
              </a:rPr>
              <a:t>MÉTODO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371600"/>
            <a:ext cx="7315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ptos"/>
              </a:rPr>
              <a:t>Cadeira Cheia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2057400"/>
            <a:ext cx="1828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B2892B"/>
                </a:solidFill>
                <a:latin typeface="Aptos"/>
              </a:rPr>
              <a:t>3C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3063240"/>
            <a:ext cx="71323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ptos"/>
              </a:rPr>
              <a:t>Estratégia comercial para clínicas que querem transformar
mais oportunidades em pacientes.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4617720"/>
            <a:ext cx="571500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4846320"/>
            <a:ext cx="36576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dirty="0">
                <a:solidFill>
                  <a:srgbClr val="191919"/>
                </a:solidFill>
                <a:latin typeface="Aptos"/>
              </a:rPr>
              <a:t>Ana</a:t>
            </a:r>
            <a:r>
              <a:rPr lang="pt-BR" sz="1400" b="1" dirty="0">
                <a:solidFill>
                  <a:srgbClr val="191919"/>
                </a:solidFill>
                <a:latin typeface="Aptos"/>
              </a:rPr>
              <a:t> Flávia</a:t>
            </a:r>
            <a:r>
              <a:rPr sz="1400" b="1" dirty="0">
                <a:solidFill>
                  <a:srgbClr val="191919"/>
                </a:solidFill>
                <a:latin typeface="Aptos"/>
              </a:rPr>
              <a:t> &amp; Júlia Marques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230368"/>
            <a:ext cx="3200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7544B5"/>
                </a:solidFill>
                <a:latin typeface="Aptos"/>
              </a:rPr>
              <a:t>+1 (407) 308-7205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18288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B2892B"/>
                </a:solidFill>
                <a:latin typeface="Aptos"/>
              </a:rPr>
              <a:t>CONTATO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36992" y="2331720"/>
            <a:ext cx="34747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CONTATO
COMPARECIMENTO
CONVERSÃO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59893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B2892B"/>
                </a:solidFill>
                <a:latin typeface="Aptos"/>
              </a:rPr>
              <a:t>APRESENTAÇÃO INSTITUCIONAL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735</Words>
  <Application>Microsoft Office PowerPoint</Application>
  <PresentationFormat>Widescreen</PresentationFormat>
  <Paragraphs>128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3" baseType="lpstr">
      <vt:lpstr>Aptos</vt:lpstr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ASUS</dc:creator>
  <cp:keywords/>
  <dc:description>generated using python-pptx</dc:description>
  <cp:lastModifiedBy>Jackson Marques</cp:lastModifiedBy>
  <cp:revision>2</cp:revision>
  <dcterms:created xsi:type="dcterms:W3CDTF">2013-01-27T09:14:16Z</dcterms:created>
  <dcterms:modified xsi:type="dcterms:W3CDTF">2026-08-28T19:18:32Z</dcterms:modified>
  <cp:category/>
</cp:coreProperties>
</file>