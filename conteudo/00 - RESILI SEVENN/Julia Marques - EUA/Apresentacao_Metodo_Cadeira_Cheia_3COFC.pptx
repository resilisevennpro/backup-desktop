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714" y="-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052560" y="0"/>
            <a:ext cx="3154680" cy="6858000"/>
          </a:xfrm>
          <a:prstGeom prst="rect">
            <a:avLst/>
          </a:prstGeom>
          <a:solidFill>
            <a:srgbClr val="532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784080" y="0"/>
            <a:ext cx="2423160" cy="6858000"/>
          </a:xfrm>
          <a:prstGeom prst="rect">
            <a:avLst/>
          </a:prstGeom>
          <a:solidFill>
            <a:srgbClr val="754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52760" y="0"/>
            <a:ext cx="1554480" cy="6858000"/>
          </a:xfrm>
          <a:prstGeom prst="rect">
            <a:avLst/>
          </a:prstGeom>
          <a:solidFill>
            <a:srgbClr val="B2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2892B"/>
                </a:solidFill>
                <a:latin typeface="Aptos"/>
              </a:rPr>
              <a:t>MÉTODO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Cadeira Cheia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7544B5"/>
                </a:solidFill>
                <a:latin typeface="Aptos"/>
              </a:rPr>
              <a:t>3C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63240"/>
            <a:ext cx="7223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Estratégia comercial para transformar
leads em pacientes, comparecimentos e conversões.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4709160"/>
            <a:ext cx="5029200" cy="347472"/>
          </a:xfrm>
          <a:prstGeom prst="roundRect">
            <a:avLst/>
          </a:prstGeom>
          <a:solidFill>
            <a:srgbClr val="754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477316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CONTATO  •  COMPARECIMENTO  •  CONVERSÃO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59436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B2892B"/>
                </a:solidFill>
                <a:latin typeface="Aptos"/>
              </a:rPr>
              <a:t>APRESENTAÇÃO INSTITUCIONAL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2148840"/>
            <a:ext cx="1783080" cy="1783080"/>
          </a:xfrm>
          <a:prstGeom prst="roundRect">
            <a:avLst/>
          </a:prstGeom>
          <a:noFill/>
          <a:ln w="279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82912" y="2657219"/>
            <a:ext cx="1371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0" dirty="0">
                <a:solidFill>
                  <a:srgbClr val="B2892B"/>
                </a:solidFill>
                <a:latin typeface="Aptos"/>
              </a:rPr>
              <a:t>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544B5"/>
                </a:solidFill>
                <a:latin typeface="Aptos"/>
              </a:rPr>
              <a:t>MÉTODO CADEIRA CHEIA 3C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2892B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2892B"/>
                </a:solidFill>
                <a:latin typeface="Aptos"/>
              </a:rPr>
              <a:t>QUEM SOMOS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Uma operação comercial construída para gerar crescimento previsível.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3902" y="20802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696969"/>
                </a:solidFill>
                <a:latin typeface="Aptos"/>
              </a:rPr>
              <a:t>O </a:t>
            </a:r>
            <a:r>
              <a:rPr sz="1300" b="0" dirty="0" err="1">
                <a:solidFill>
                  <a:srgbClr val="696969"/>
                </a:solidFill>
                <a:latin typeface="Aptos"/>
              </a:rPr>
              <a:t>Método</a:t>
            </a:r>
            <a:r>
              <a:rPr sz="130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96969"/>
                </a:solidFill>
                <a:latin typeface="Aptos"/>
              </a:rPr>
              <a:t>Cadeira</a:t>
            </a:r>
            <a:r>
              <a:rPr sz="130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96969"/>
                </a:solidFill>
                <a:latin typeface="Aptos"/>
              </a:rPr>
              <a:t>Cheia</a:t>
            </a:r>
            <a:r>
              <a:rPr sz="1300" b="0" dirty="0">
                <a:solidFill>
                  <a:srgbClr val="696969"/>
                </a:solidFill>
                <a:latin typeface="Aptos"/>
              </a:rPr>
              <a:t> 3C </a:t>
            </a:r>
            <a:r>
              <a:rPr sz="1300" b="0" dirty="0" err="1">
                <a:solidFill>
                  <a:srgbClr val="696969"/>
                </a:solidFill>
                <a:latin typeface="Aptos"/>
              </a:rPr>
              <a:t>une</a:t>
            </a:r>
            <a:r>
              <a:rPr sz="130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96969"/>
                </a:solidFill>
                <a:latin typeface="Aptos"/>
              </a:rPr>
              <a:t>estratégia</a:t>
            </a:r>
            <a:r>
              <a:rPr sz="1300" b="0" dirty="0">
                <a:solidFill>
                  <a:srgbClr val="696969"/>
                </a:solidFill>
                <a:latin typeface="Aptos"/>
              </a:rPr>
              <a:t>, </a:t>
            </a:r>
            <a:r>
              <a:rPr sz="1300" b="0" dirty="0" err="1">
                <a:solidFill>
                  <a:srgbClr val="696969"/>
                </a:solidFill>
                <a:latin typeface="Aptos"/>
              </a:rPr>
              <a:t>geração</a:t>
            </a:r>
            <a:r>
              <a:rPr sz="1300" b="0" dirty="0">
                <a:solidFill>
                  <a:srgbClr val="696969"/>
                </a:solidFill>
                <a:latin typeface="Aptos"/>
              </a:rPr>
              <a:t> de </a:t>
            </a:r>
            <a:r>
              <a:rPr sz="1300" b="0" dirty="0" err="1">
                <a:solidFill>
                  <a:srgbClr val="696969"/>
                </a:solidFill>
                <a:latin typeface="Aptos"/>
              </a:rPr>
              <a:t>demanda</a:t>
            </a:r>
            <a:r>
              <a:rPr sz="1300" b="0" dirty="0">
                <a:solidFill>
                  <a:srgbClr val="696969"/>
                </a:solidFill>
                <a:latin typeface="Aptos"/>
              </a:rPr>
              <a:t> e </a:t>
            </a:r>
            <a:r>
              <a:rPr sz="1300" b="0" dirty="0" err="1">
                <a:solidFill>
                  <a:srgbClr val="696969"/>
                </a:solidFill>
                <a:latin typeface="Aptos"/>
              </a:rPr>
              <a:t>atendimento</a:t>
            </a:r>
            <a:r>
              <a:rPr sz="130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96969"/>
                </a:solidFill>
                <a:latin typeface="Aptos"/>
              </a:rPr>
              <a:t>comercial</a:t>
            </a:r>
            <a:r>
              <a:rPr sz="130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96969"/>
                </a:solidFill>
                <a:latin typeface="Aptos"/>
              </a:rPr>
              <a:t>em</a:t>
            </a:r>
            <a:r>
              <a:rPr sz="130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96969"/>
                </a:solidFill>
                <a:latin typeface="Aptos"/>
              </a:rPr>
              <a:t>uma</a:t>
            </a:r>
            <a:r>
              <a:rPr sz="130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96969"/>
                </a:solidFill>
                <a:latin typeface="Aptos"/>
              </a:rPr>
              <a:t>única</a:t>
            </a:r>
            <a:r>
              <a:rPr sz="130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96969"/>
                </a:solidFill>
                <a:latin typeface="Aptos"/>
              </a:rPr>
              <a:t>estrutura</a:t>
            </a:r>
            <a:r>
              <a:rPr sz="1300" b="0" dirty="0">
                <a:solidFill>
                  <a:srgbClr val="696969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697480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9536" y="2898648"/>
            <a:ext cx="438912" cy="438912"/>
          </a:xfrm>
          <a:prstGeom prst="ellipse">
            <a:avLst/>
          </a:prstGeom>
          <a:solidFill>
            <a:srgbClr val="754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2916936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916936"/>
            <a:ext cx="245059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Ana &amp; Júlia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3355848"/>
            <a:ext cx="2359151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6969"/>
                </a:solidFill>
                <a:latin typeface="Aptos"/>
              </a:rPr>
              <a:t>Sócias e fundadoras, responsáveis pela estratégia, operação e evolução do método.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697480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72000" y="2898648"/>
            <a:ext cx="438912" cy="438912"/>
          </a:xfrm>
          <a:prstGeom prst="ellipse">
            <a:avLst/>
          </a:prstGeom>
          <a:solidFill>
            <a:srgbClr val="B2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2916936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916936"/>
            <a:ext cx="245059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Mais de 2 anos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355848"/>
            <a:ext cx="2359151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6969"/>
                </a:solidFill>
                <a:latin typeface="Aptos"/>
              </a:rPr>
              <a:t>O Método Cadeira Cheia já é aplicado no Brasil há mais de dois anos, com foco em crescimento comercial.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2697480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84464" y="2898648"/>
            <a:ext cx="438912" cy="438912"/>
          </a:xfrm>
          <a:prstGeom prst="ellipse">
            <a:avLst/>
          </a:prstGeom>
          <a:solidFill>
            <a:srgbClr val="754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84464" y="2916936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3104" y="2916936"/>
            <a:ext cx="245059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Expansão internacional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3104" y="3355848"/>
            <a:ext cx="2359151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6969"/>
                </a:solidFill>
                <a:latin typeface="Aptos"/>
              </a:rPr>
              <a:t>A metodologia também já atende clientes de outras áreas nos Estados Unidos e está em implementação no mercado americano.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9672"/>
            <a:ext cx="10972800" cy="22860"/>
          </a:xfrm>
          <a:prstGeom prst="rect">
            <a:avLst/>
          </a:prstGeom>
          <a:solidFill>
            <a:srgbClr val="E8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6969"/>
                </a:solidFill>
                <a:latin typeface="Aptos"/>
              </a:rPr>
              <a:t>CONTATO  •  +1 (407) 308-7205  •  Ana ou Júlia Marques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544B5"/>
                </a:solidFill>
                <a:latin typeface="Aptos"/>
              </a:rPr>
              <a:t>MÉTODO CADEIRA CHEIA 3C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2892B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2892B"/>
                </a:solidFill>
                <a:latin typeface="Aptos"/>
              </a:rPr>
              <a:t>O MÉTODO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Cadeira Cheia 3C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Três etapas conectadas para construir uma jornada comercial que não depende apenas da geração de leads.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06040"/>
            <a:ext cx="3383280" cy="2834640"/>
          </a:xfrm>
          <a:prstGeom prst="roundRect">
            <a:avLst/>
          </a:prstGeom>
          <a:solidFill>
            <a:srgbClr val="F8F4EE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907792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7544B5"/>
                </a:solidFill>
                <a:latin typeface="Aptos"/>
              </a:rPr>
              <a:t>C1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40156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CONTATO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950208"/>
            <a:ext cx="2834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96969"/>
                </a:solidFill>
                <a:latin typeface="Aptos"/>
              </a:rPr>
              <a:t>Gerar e iniciar o relacionamento com potenciais pacientes no momento certo.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" y="5138928"/>
            <a:ext cx="2011680" cy="36576"/>
          </a:xfrm>
          <a:prstGeom prst="rect">
            <a:avLst/>
          </a:prstGeom>
          <a:solidFill>
            <a:srgbClr val="754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07992" y="2606040"/>
            <a:ext cx="3383280" cy="2834640"/>
          </a:xfrm>
          <a:prstGeom prst="roundRect">
            <a:avLst/>
          </a:prstGeom>
          <a:solidFill>
            <a:srgbClr val="F8F4EE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64024" y="2907792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B2892B"/>
                </a:solidFill>
                <a:latin typeface="Aptos"/>
              </a:rPr>
              <a:t>C2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4" y="340156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COMPARECIMENTO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4" y="3950208"/>
            <a:ext cx="2834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96969"/>
                </a:solidFill>
                <a:latin typeface="Aptos"/>
              </a:rPr>
              <a:t>Acompanhar, fazer follow-up e reduzir perdas entre o primeiro contato e o agendamento.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64024" y="5138928"/>
            <a:ext cx="2011680" cy="36576"/>
          </a:xfrm>
          <a:prstGeom prst="rect">
            <a:avLst/>
          </a:prstGeom>
          <a:solidFill>
            <a:srgbClr val="B2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30183" y="2606040"/>
            <a:ext cx="3383280" cy="2834640"/>
          </a:xfrm>
          <a:prstGeom prst="roundRect">
            <a:avLst/>
          </a:prstGeom>
          <a:solidFill>
            <a:srgbClr val="F8F4EE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86215" y="2907792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532B87"/>
                </a:solidFill>
                <a:latin typeface="Aptos"/>
              </a:rPr>
              <a:t>C3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6215" y="340156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CONVERSÃO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6215" y="3950208"/>
            <a:ext cx="2834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96969"/>
                </a:solidFill>
                <a:latin typeface="Aptos"/>
              </a:rPr>
              <a:t>Estruturar o atendimento comercial para transformar oportunidades em procedimentos.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86215" y="5138928"/>
            <a:ext cx="2011680" cy="36576"/>
          </a:xfrm>
          <a:prstGeom prst="rect">
            <a:avLst/>
          </a:prstGeom>
          <a:solidFill>
            <a:srgbClr val="532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6519672"/>
            <a:ext cx="10972800" cy="22860"/>
          </a:xfrm>
          <a:prstGeom prst="rect">
            <a:avLst/>
          </a:prstGeom>
          <a:solidFill>
            <a:srgbClr val="E8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6969"/>
                </a:solidFill>
                <a:latin typeface="Aptos"/>
              </a:rPr>
              <a:t>CONTATO  •  +1 (407) 308-7205  •  Ana ou Júlia Marques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544B5"/>
                </a:solidFill>
                <a:latin typeface="Aptos"/>
              </a:rPr>
              <a:t>MÉTODO CADEIRA CHEIA 3C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2892B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2892B"/>
                </a:solidFill>
                <a:latin typeface="Aptos"/>
              </a:rPr>
              <a:t>COMO ATUAMOS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Do anúncio ao agendamento — e do agendamento à conversão.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A operação é desenhada para que marketing e comercial trabalhem como uma única jornada.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542032"/>
            <a:ext cx="107442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743200"/>
            <a:ext cx="438912" cy="438912"/>
          </a:xfrm>
          <a:prstGeom prst="ellipse">
            <a:avLst/>
          </a:prstGeom>
          <a:solidFill>
            <a:srgbClr val="754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61487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761487"/>
            <a:ext cx="97657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TRÁFEGO &amp; CAPTAÇÃO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0329" y="2832456"/>
            <a:ext cx="9674352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 err="1">
                <a:solidFill>
                  <a:srgbClr val="696969"/>
                </a:solidFill>
                <a:latin typeface="Aptos"/>
              </a:rPr>
              <a:t>Campanhas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estratégias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para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gerar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novos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leads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qualificados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291839"/>
            <a:ext cx="107442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3493008"/>
            <a:ext cx="438912" cy="438912"/>
          </a:xfrm>
          <a:prstGeom prst="ellipse">
            <a:avLst/>
          </a:prstGeom>
          <a:solidFill>
            <a:srgbClr val="B2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511296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511296"/>
            <a:ext cx="97657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CRC / ATENDIMENTO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0329" y="3595091"/>
            <a:ext cx="9674352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 err="1">
                <a:solidFill>
                  <a:srgbClr val="696969"/>
                </a:solidFill>
                <a:latin typeface="Aptos"/>
              </a:rPr>
              <a:t>Contato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,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qualificação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,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condução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da conversa 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direcionamento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para o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agendamento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041648"/>
            <a:ext cx="107442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4400" y="4242816"/>
            <a:ext cx="438912" cy="438912"/>
          </a:xfrm>
          <a:prstGeom prst="ellipse">
            <a:avLst/>
          </a:prstGeom>
          <a:solidFill>
            <a:srgbClr val="754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261104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261104"/>
            <a:ext cx="97657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FOLLOW-UP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0329" y="4234354"/>
            <a:ext cx="9674352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 err="1">
                <a:solidFill>
                  <a:srgbClr val="696969"/>
                </a:solidFill>
                <a:latin typeface="Aptos"/>
              </a:rPr>
              <a:t>Acompanhamento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estruturado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para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recuperar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oportunidades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aumentar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o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comparecimento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791456"/>
            <a:ext cx="107442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4400" y="4992624"/>
            <a:ext cx="438912" cy="438912"/>
          </a:xfrm>
          <a:prstGeom prst="ellipse">
            <a:avLst/>
          </a:prstGeom>
          <a:solidFill>
            <a:srgbClr val="B2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010912"/>
            <a:ext cx="97657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REATIVAÇÃO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4337" y="5093072"/>
            <a:ext cx="9674352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 err="1">
                <a:solidFill>
                  <a:srgbClr val="696969"/>
                </a:solidFill>
                <a:latin typeface="Aptos"/>
              </a:rPr>
              <a:t>Trabalho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sobre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a base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existente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para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transformar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contatos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antigos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em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novas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oportunidades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5541264"/>
            <a:ext cx="107442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14400" y="5742431"/>
            <a:ext cx="438912" cy="438912"/>
          </a:xfrm>
          <a:prstGeom prst="ellipse">
            <a:avLst/>
          </a:prstGeom>
          <a:solidFill>
            <a:srgbClr val="754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760720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760720"/>
            <a:ext cx="97657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CONVERSÃO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4337" y="5760720"/>
            <a:ext cx="9674352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 err="1">
                <a:solidFill>
                  <a:srgbClr val="696969"/>
                </a:solidFill>
                <a:latin typeface="Aptos"/>
              </a:rPr>
              <a:t>Processos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, scripts,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organização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acompanhamento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do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comercial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para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melhorar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resultados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519672"/>
            <a:ext cx="10972800" cy="22860"/>
          </a:xfrm>
          <a:prstGeom prst="rect">
            <a:avLst/>
          </a:prstGeom>
          <a:solidFill>
            <a:srgbClr val="E8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6969"/>
                </a:solidFill>
                <a:latin typeface="Aptos"/>
              </a:rPr>
              <a:t>CONTATO  •  +1 (407) 308-7205  •  Ana ou Júlia Marques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544B5"/>
                </a:solidFill>
                <a:latin typeface="Aptos"/>
              </a:rPr>
              <a:t>MÉTODO CADEIRA CHEIA 3C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2892B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2892B"/>
                </a:solidFill>
                <a:latin typeface="Aptos"/>
              </a:rPr>
              <a:t>ESTRUTURA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Uma operação integrada para sustentar o crescimento.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Os entregáveis são organizados de acordo com a fase de maturidade comercial e as necessidades da operação.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42032"/>
            <a:ext cx="523036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761487"/>
            <a:ext cx="47457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CRM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58084"/>
            <a:ext cx="4654296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 err="1">
                <a:solidFill>
                  <a:srgbClr val="696969"/>
                </a:solidFill>
                <a:latin typeface="Aptos"/>
              </a:rPr>
              <a:t>Implementação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,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organização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de leads,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acompanhamento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visão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do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processo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comercial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542032"/>
            <a:ext cx="523036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2761487"/>
            <a:ext cx="47457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GESTÃO DA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992817"/>
            <a:ext cx="4654296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696969"/>
                </a:solidFill>
                <a:latin typeface="Aptos"/>
              </a:rPr>
              <a:t>Follow-up,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reativação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de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contatos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criação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de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rotinas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para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não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perder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oportunidades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21024"/>
            <a:ext cx="523036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3840480"/>
            <a:ext cx="47457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CAPTAÇÃO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062224"/>
            <a:ext cx="4654296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 err="1">
                <a:solidFill>
                  <a:srgbClr val="696969"/>
                </a:solidFill>
                <a:latin typeface="Aptos"/>
              </a:rPr>
              <a:t>Tráfego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pago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campanhas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para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geração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contínua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de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novos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potenciais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pacientes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621024"/>
            <a:ext cx="523036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3952" y="3840480"/>
            <a:ext cx="47457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GOOGLE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032503"/>
            <a:ext cx="4654296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 err="1">
                <a:solidFill>
                  <a:srgbClr val="696969"/>
                </a:solidFill>
                <a:latin typeface="Aptos"/>
              </a:rPr>
              <a:t>Gestão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estratégica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do Google My Business para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fortalecer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presença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descoberta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local.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700016"/>
            <a:ext cx="523036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4919472"/>
            <a:ext cx="47457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WEBSITE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756" y="5151893"/>
            <a:ext cx="4654296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 err="1">
                <a:solidFill>
                  <a:srgbClr val="696969"/>
                </a:solidFill>
                <a:latin typeface="Aptos"/>
              </a:rPr>
              <a:t>Estrutura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manutenção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do site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como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ferramenta de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autoridade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,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confiança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conversão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700016"/>
            <a:ext cx="523036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3952" y="4919472"/>
            <a:ext cx="47457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SOCIAL MEDIA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5151893"/>
            <a:ext cx="4654296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 err="1">
                <a:solidFill>
                  <a:srgbClr val="696969"/>
                </a:solidFill>
                <a:latin typeface="Aptos"/>
              </a:rPr>
              <a:t>Gestão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estratégica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das redes para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fortalecer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marca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,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autoridade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 e </a:t>
            </a:r>
            <a:r>
              <a:rPr sz="1050" b="0" dirty="0" err="1">
                <a:solidFill>
                  <a:srgbClr val="696969"/>
                </a:solidFill>
                <a:latin typeface="Aptos"/>
              </a:rPr>
              <a:t>relacionamento</a:t>
            </a:r>
            <a:r>
              <a:rPr sz="1050" b="0" dirty="0">
                <a:solidFill>
                  <a:srgbClr val="696969"/>
                </a:solidFill>
                <a:latin typeface="Aptos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519672"/>
            <a:ext cx="10972800" cy="22860"/>
          </a:xfrm>
          <a:prstGeom prst="rect">
            <a:avLst/>
          </a:prstGeom>
          <a:solidFill>
            <a:srgbClr val="E8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6969"/>
                </a:solidFill>
                <a:latin typeface="Aptos"/>
              </a:rPr>
              <a:t>CONTATO  •  +1 (407) 308-7205  •  Ana ou Júlia Marques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544B5"/>
                </a:solidFill>
                <a:latin typeface="Aptos"/>
              </a:rPr>
              <a:t>MÉTODO CADEIRA CHEIA 3C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2892B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2892B"/>
                </a:solidFill>
                <a:latin typeface="Aptos"/>
              </a:rPr>
              <a:t>OPERAÇÃO COMERCIAL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O diferencial está na continuidade.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Mais do que gerar contatos, a metodologia organiza o que acontece depois que o lead chega.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80360"/>
            <a:ext cx="1572768" cy="841248"/>
          </a:xfrm>
          <a:prstGeom prst="roundRect">
            <a:avLst/>
          </a:prstGeom>
          <a:solidFill>
            <a:srgbClr val="754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145536"/>
            <a:ext cx="15727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1089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96969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96312" y="2880360"/>
            <a:ext cx="1572768" cy="841248"/>
          </a:xfrm>
          <a:prstGeom prst="roundRect">
            <a:avLst/>
          </a:prstGeom>
          <a:solidFill>
            <a:srgbClr val="B2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96312" y="3145536"/>
            <a:ext cx="15727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ATENDIMENTO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6512" y="31089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96969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4" y="2880360"/>
            <a:ext cx="1572768" cy="841248"/>
          </a:xfrm>
          <a:prstGeom prst="roundRect">
            <a:avLst/>
          </a:prstGeom>
          <a:solidFill>
            <a:srgbClr val="754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98264" y="3145536"/>
            <a:ext cx="15727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AGENDAMENTO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8464" y="31089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96969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216" y="2880360"/>
            <a:ext cx="1572768" cy="841248"/>
          </a:xfrm>
          <a:prstGeom prst="roundRect">
            <a:avLst/>
          </a:prstGeom>
          <a:solidFill>
            <a:srgbClr val="B2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0216" y="3145536"/>
            <a:ext cx="15727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FOLLOW-UP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0416" y="31089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96969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02168" y="2880360"/>
            <a:ext cx="1572768" cy="841248"/>
          </a:xfrm>
          <a:prstGeom prst="roundRect">
            <a:avLst/>
          </a:prstGeom>
          <a:solidFill>
            <a:srgbClr val="754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02168" y="3145536"/>
            <a:ext cx="15727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COMPARECIMENTO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31089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96969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04120" y="2880360"/>
            <a:ext cx="1572768" cy="841248"/>
          </a:xfrm>
          <a:prstGeom prst="roundRect">
            <a:avLst/>
          </a:prstGeom>
          <a:solidFill>
            <a:srgbClr val="B2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04120" y="3145536"/>
            <a:ext cx="15727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CONVERSÃO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160520"/>
            <a:ext cx="8138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91919"/>
                </a:solidFill>
                <a:latin typeface="Aptos"/>
              </a:rPr>
              <a:t>Cada etapa tem uma função clara e mensurável dentro da jornada comercial.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709160"/>
            <a:ext cx="8503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96969"/>
                </a:solidFill>
                <a:latin typeface="Aptos"/>
              </a:rPr>
              <a:t>O objetivo é reduzir perdas entre as etapas e criar uma operação que acompanhe o paciente até a decisão.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519672"/>
            <a:ext cx="10972800" cy="22860"/>
          </a:xfrm>
          <a:prstGeom prst="rect">
            <a:avLst/>
          </a:prstGeom>
          <a:solidFill>
            <a:srgbClr val="E8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6969"/>
                </a:solidFill>
                <a:latin typeface="Aptos"/>
              </a:rPr>
              <a:t>CONTATO  •  +1 (407) 308-7205  •  Ana ou Júlia Marques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2892B"/>
                </a:solidFill>
                <a:latin typeface="Aptos"/>
              </a:rPr>
              <a:t>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784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Do Brasil para os Estados Unidos.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47088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CDCDC"/>
                </a:solidFill>
                <a:latin typeface="Aptos"/>
              </a:rPr>
              <a:t>Uma metodologia validada em operação no Brasil e em processo de expansão internacional.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788920"/>
            <a:ext cx="5074920" cy="2240280"/>
          </a:xfrm>
          <a:prstGeom prst="roundRect">
            <a:avLst/>
          </a:prstGeom>
          <a:solidFill>
            <a:srgbClr val="262626"/>
          </a:solidFill>
          <a:ln>
            <a:solidFill>
              <a:srgbClr val="754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" y="31272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544B5"/>
                </a:solidFill>
                <a:latin typeface="Aptos"/>
              </a:rPr>
              <a:t>BRASIL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657600"/>
            <a:ext cx="4343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Mais de 2 anos de desenvolvimento e aplicação do Método Cadeira Cheia.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2788920"/>
            <a:ext cx="5074920" cy="2240280"/>
          </a:xfrm>
          <a:prstGeom prst="roundRect">
            <a:avLst/>
          </a:prstGeom>
          <a:solidFill>
            <a:srgbClr val="262626"/>
          </a:solidFill>
          <a:ln>
            <a:solidFill>
              <a:srgbClr val="B2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47688" y="31272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2892B"/>
                </a:solidFill>
                <a:latin typeface="Aptos"/>
              </a:rPr>
              <a:t>ESTADOS UNIDOS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7688" y="3657600"/>
            <a:ext cx="4343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Implementação da metodologia no mercado americano, além de clientes de outras áreas já atendidos.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8064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B2892B"/>
                </a:solidFill>
                <a:latin typeface="Aptos"/>
              </a:rPr>
              <a:t>ESTRATÉGIA  •  OPERAÇÃO  •  ESCALA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544B5"/>
                </a:solidFill>
                <a:latin typeface="Aptos"/>
              </a:rPr>
              <a:t>MÉTODO CADEIRA CHEIA 3C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2892B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2892B"/>
                </a:solidFill>
                <a:latin typeface="Aptos"/>
              </a:rPr>
              <a:t>NOSSO POSICIONAMENTO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Aptos"/>
              </a:rPr>
              <a:t>Não somos apenas uma agência de marketing.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Somos uma estrutura comercial pensada para conectar geração de demanda, atendimento e conversão.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779776"/>
            <a:ext cx="46817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GERAR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18687"/>
            <a:ext cx="4590288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6969"/>
                </a:solidFill>
                <a:latin typeface="Aptos"/>
              </a:rPr>
              <a:t>Atrair novos potenciais pacientes.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56032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9672" y="2779776"/>
            <a:ext cx="46817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ATENDER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3218687"/>
            <a:ext cx="4590288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6969"/>
                </a:solidFill>
                <a:latin typeface="Aptos"/>
              </a:rPr>
              <a:t>Responder, qualificar e conduzir.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8620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4105656"/>
            <a:ext cx="46817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ACOMPANHAR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544568"/>
            <a:ext cx="4590288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6969"/>
                </a:solidFill>
                <a:latin typeface="Aptos"/>
              </a:rPr>
              <a:t>Fazer follow-up e recuperar oportunidades.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88620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9672" y="4105656"/>
            <a:ext cx="46817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ptos"/>
              </a:rPr>
              <a:t>CONVERTER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4544568"/>
            <a:ext cx="4590288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6969"/>
                </a:solidFill>
                <a:latin typeface="Aptos"/>
              </a:rPr>
              <a:t>Transformar relacionamento em resultado.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5321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7544B5"/>
                </a:solidFill>
                <a:latin typeface="Aptos"/>
              </a:rPr>
              <a:t>Método Cadeira Cheia 3C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925312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2892B"/>
                </a:solidFill>
                <a:latin typeface="Aptos"/>
              </a:rPr>
              <a:t>Contato. Comparecimento. Conversão.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9672"/>
            <a:ext cx="10972800" cy="22860"/>
          </a:xfrm>
          <a:prstGeom prst="rect">
            <a:avLst/>
          </a:prstGeom>
          <a:solidFill>
            <a:srgbClr val="E8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6969"/>
                </a:solidFill>
                <a:latin typeface="Aptos"/>
              </a:rPr>
              <a:t>CONTATO  •  +1 (407) 308-7205  •  Ana ou Júlia Marques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32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2892B"/>
                </a:solidFill>
                <a:latin typeface="Aptos"/>
              </a:rPr>
              <a:t>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7160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Cadeira Cheia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57400"/>
            <a:ext cx="1828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B2892B"/>
                </a:solidFill>
                <a:latin typeface="Aptos"/>
              </a:rPr>
              <a:t>3C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7132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Estratégia comercial para clínicas que querem transformar
mais oportunidades em pacientes.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617720"/>
            <a:ext cx="571500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4846320"/>
            <a:ext cx="36576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191919"/>
                </a:solidFill>
                <a:latin typeface="Aptos"/>
              </a:rPr>
              <a:t>Ana</a:t>
            </a:r>
            <a:r>
              <a:rPr lang="pt-BR" sz="1400" b="1" dirty="0">
                <a:solidFill>
                  <a:srgbClr val="191919"/>
                </a:solidFill>
                <a:latin typeface="Aptos"/>
              </a:rPr>
              <a:t> Flávia</a:t>
            </a:r>
            <a:r>
              <a:rPr sz="1400" b="1" dirty="0">
                <a:solidFill>
                  <a:srgbClr val="191919"/>
                </a:solidFill>
                <a:latin typeface="Aptos"/>
              </a:rPr>
              <a:t> &amp; Júlia Marques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23036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544B5"/>
                </a:solidFill>
                <a:latin typeface="Aptos"/>
              </a:rPr>
              <a:t>+1 (407) 308-7205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828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2892B"/>
                </a:solidFill>
                <a:latin typeface="Aptos"/>
              </a:rPr>
              <a:t>CONTATO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6992" y="2331720"/>
            <a:ext cx="3474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CONTATO
COMPARECIMENTO
CONVERSÃO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59893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2892B"/>
                </a:solidFill>
                <a:latin typeface="Aptos"/>
              </a:rPr>
              <a:t>APRESENTAÇÃO INSTITUCIONAL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735</Words>
  <Application>Microsoft Office PowerPoint</Application>
  <PresentationFormat>Widescreen</PresentationFormat>
  <Paragraphs>128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viianabjulia@gmail.com</cp:lastModifiedBy>
  <cp:revision>2</cp:revision>
  <dcterms:created xsi:type="dcterms:W3CDTF">2013-01-27T09:14:16Z</dcterms:created>
  <dcterms:modified xsi:type="dcterms:W3CDTF">2026-08-28T19:13:40Z</dcterms:modified>
  <cp:category/>
</cp:coreProperties>
</file>